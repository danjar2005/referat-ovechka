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91640"/>
            <a:ext cx="103601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800" b="1">
                <a:solidFill>
                  <a:srgbClr val="EAFBFF"/>
                </a:solidFill>
                <a:latin typeface="Consolas"/>
              </a:rPr>
              <a:t>АНАЛИЗ ТЕХНОЛОГИЙ ОХЛАЖДЕНИЯ
КОМПЬЮТЕРНЫХ СИСТЕМ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00E5FF"/>
                </a:solidFill>
                <a:latin typeface="Consolas"/>
              </a:rPr>
              <a:t>и основы их технического обслуживания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389120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Реферат по дисциплине «Техническое обслуживание и ремонт аппаратной части компьютерных систем и комплексов»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974336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Выполнил: Теддер Даниил, группа 3952   |   Руководитель: Овчинников К.Е.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Class="entr" fill="hold" nodeType="afterEffec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"/>
                            </p:stCondLst>
                            <p:childTnLst>
                              <p:par>
                                <p:cTn id="15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Почему охлаждение решает всё: тепловой вызов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Тепловой пакет флагманских ЦП и ГП достиг 125–350 Вт, плотность теплового потока превышает 100 Вт/см²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До 30 % аппаратных сбоев вызваны деградацией охлаждения: пыль, деградация термопасты, износ подшипников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Перегрев приводит к троттлингу частот, аварийным перезагрузкам и ускоренной электромиграции полупроводников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Своевременный регламент обслуживания (1–2 часа) в 10–20 раз дешевле внепланового ремонта и замены чипов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31920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Цель исследования: сравнительный анализ технологий охлаждения и формирование строгого регламента ТО</a:t>
            </a:r>
          </a:p>
        </p:txBody>
      </p:sp>
      <p:pic>
        <p:nvPicPr>
          <p:cNvPr id="9" name="Picture 8" descr="therm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561395"/>
            <a:ext cx="4206240" cy="2375288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"/>
                            </p:stCondLst>
                            <p:childTnLst>
                              <p:par>
                                <p:cTn id="28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550"/>
                                        <p:tgtEl>
                                          <p:spTgt spid="9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Физика процесса: закон Фурье и цепь тепловых сопротивлений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Три механизма теплопереноса: теплопроводность, конвекция и излучение; узкое горлышко — конвекция в радиаторе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Формула теплового баланса: ΔT = P × ΣR_th (перепад температур = мощность × сумма сопротивлений)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Пример: 150 Вт при сумме R_th = 0,38 К/Вт дают перегрев кристалла 57 °C над температурой воздуха в корпусе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Деградация термоинтерфейса добавляет 0,10–0,15 К/Вт, вызывая критический перегрев даже при мощном кулере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31920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Главный инженерный принцип: эффективность охлаждения лимитируется самым слабым звеном тепловой цепи</a:t>
            </a:r>
          </a:p>
        </p:txBody>
      </p:sp>
      <p:pic>
        <p:nvPicPr>
          <p:cNvPr id="9" name="Picture 8" descr="heatpi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529386"/>
            <a:ext cx="4206240" cy="2439306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"/>
                            </p:stCondLst>
                            <p:childTnLst>
                              <p:par>
                                <p:cTn id="28" presetClass="entr" fill="hold" nodeType="after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9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Воздушное охлаждение: тепловые трубки и башни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Тепловые трубки: испарительно-конденсационный цикл, эквивалентная теплопроводность до десятков тысяч Вт/(м·К)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Современные башенные кулеры: двухсекционные радиаторы, 6–8 трубок диаметром 6 мм, рассеивание до 250 Вт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Серверные решения: вентиляторные модули горячей замены (до 15 000 об/мин), организация горячих и холодных коридоров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Достоинства: максимальная надёжность, отсутствие риска протечек, низкая стоимость, простота регламента</a:t>
            </a:r>
          </a:p>
        </p:txBody>
      </p:sp>
      <p:pic>
        <p:nvPicPr>
          <p:cNvPr id="8" name="Picture 7" descr="noctua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904197"/>
            <a:ext cx="4206240" cy="3689684"/>
          </a:xfrm>
          <a:prstGeom prst="rect">
            <a:avLst/>
          </a:prstGeom>
        </p:spPr>
      </p:pic>
    </p:spTree>
  </p:cSld>
  <p:clrMapOvr>
    <a:masterClrMapping/>
  </p:clrMapOvr>
  <p:transition spd="med">
    <p:wipe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Жидкостное охлаждение: моноблоки AIO и кастомные контуры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Моноблочные СЖО (AIO): необслуживаемый герметичный контур, радиаторы 240–360 мм, рассеивание 250–350 Вт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Кастомные контуры: раздельные водоблоки ЦП и ГП, помпа D5/DDC, резервуар, медные радиаторы — отвод от 600 Вт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Высокая удельная теплоёмкость воды (4184 Дж/(кг·К)) сглаживает пиковые тепловые удары на кристаллах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Цена эффективности: сложность монтажа, мониторинг герметичности, риск коррозии и требование ежегодного ТО</a:t>
            </a:r>
          </a:p>
        </p:txBody>
      </p:sp>
      <p:pic>
        <p:nvPicPr>
          <p:cNvPr id="8" name="Picture 7" descr="ai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45920"/>
            <a:ext cx="4206240" cy="4206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Class="entr" fill="hold" nodeType="afterEffect" presetID="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right)"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Архитектура контурного жидкостного охлаждения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Ключевые узлы: водоблоки микроканального типа (каналы 0,1–0,2 мм), помпа высокой подачи, радиаторы с медными ламелями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Особое требование к совместимости материалов: строгий запрет на контакт меди и алюминия (гальваническая пара)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Теплоноситель: бидистиллированная вода со специализированными антикоррозийными и биоцидными присадками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Обслуживание: опрессовка контура давлением 0,5 бар перед заправкой и контроль прозрачности хладагента</a:t>
            </a:r>
          </a:p>
        </p:txBody>
      </p:sp>
      <p:pic>
        <p:nvPicPr>
          <p:cNvPr id="8" name="Picture 7" descr="custo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473" y="1554480"/>
            <a:ext cx="3293126" cy="4389119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Специальные технологии: элементы Пельтье, фаза и иммерсия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Термоэлектрический модуль Пельтье: охлаждение ниже среды, но низкий КПД (COP &lt; 0,5) и угроза точки росы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Компрессорное фазовое охлаждение: минусовые температуры под экстремальный разгон, изоляция от конденсата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Иммерсионные ванны (погружение в диэлектрические жидкости 3M Novec/синтетические масла): PUE центров данных до 1,09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Пассивные радиаторные системы: 30–65 Вт, абсолютная акустическая тишина, нулевой износ движущихся частей</a:t>
            </a:r>
          </a:p>
        </p:txBody>
      </p:sp>
      <p:pic>
        <p:nvPicPr>
          <p:cNvPr id="8" name="Picture 7" descr="pelti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45920"/>
            <a:ext cx="4206240" cy="420624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"/>
                            </p:stCondLst>
                            <p:childTnLst>
                              <p:par>
                                <p:cTn id="24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6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Сравнительный анализ технологий охлаждения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90472"/>
          <a:ext cx="658367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3430"/>
                <a:gridCol w="1185062"/>
                <a:gridCol w="1185062"/>
                <a:gridCol w="1185062"/>
                <a:gridCol w="1185062"/>
              </a:tblGrid>
              <a:tr h="34747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Технология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Предел отвода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Шум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Сложность ТО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Риск аварии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Башенный кулер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до 250 Вт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средний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низкая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минимальный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Моноблок AIO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250–350 Вт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низкий-средний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низкая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низкий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Кастомная СЖО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600+ Вт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низкий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высокая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средний (протечка)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Модуль Пельтье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до 150 Вт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высокий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конденсат на плате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Иммерсионное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без лимита узла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минимальный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средняя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минимальный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Пассивное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30–60 Вт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бесшумно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минимальная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нет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427939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Выбор технологии определяется балансом мощности TDP, габаритов шасси, бюджета и требований к шуму</a:t>
            </a:r>
          </a:p>
        </p:txBody>
      </p:sp>
    </p:spTree>
  </p:cSld>
  <p:clrMapOvr>
    <a:masterClrMapping/>
  </p:clrMapOvr>
  <p:transition spd="med">
    <p:wipe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Class="entr" fill="hold" nodeType="after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fill="hold" nodeType="clickEffec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Факторы деградации систем охлаждения со временем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Пылевой войлок на радиаторах и фильтрах: многократное снижение расхода воздуха и коэффициента конвекции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Деградация термоинтерфейса: испарение кремнийорганических масел, растрескивание матрицы через 2–3 года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Износ гидродинамических (FDB) и шариковых подшипников: выработка смазки, вибрация крыльчатки, шум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Засорение микроканалов СЖО: выпадение солевых осадков, биопленка и гальванический шлам в контуре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31920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Симптомы: вентиляторы на 100% оборотов, нагрев ЦП выше 85 °C в простых задачах, просадки FPS и троттлинг</a:t>
            </a:r>
          </a:p>
        </p:txBody>
      </p:sp>
      <p:pic>
        <p:nvPicPr>
          <p:cNvPr id="9" name="Picture 8" descr="dust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566035"/>
            <a:ext cx="4206240" cy="236601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"/>
                            </p:stCondLst>
                            <p:childTnLst>
                              <p:par>
                                <p:cTn id="28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9" dur="550"/>
                                        <p:tgtEl>
                                          <p:spTgt spid="9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30" dur="5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Инструментальный контроль и мониторинг состояния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90472"/>
          <a:ext cx="658367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/>
                <a:gridCol w="1492300"/>
                <a:gridCol w="1492300"/>
                <a:gridCol w="1492300"/>
              </a:tblGrid>
              <a:tr h="34747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Компонент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В покое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Под нагрузкой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Критический порог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Центральный процессор (CPU)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30–45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65–85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95–100 °C (T_jmax)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Видеокарта (GPU Core / HotSpot)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30–40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60–78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85 °C / 105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Твердотельный накопитель NVMe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30–42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50–68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75–80 °C (троттлинг)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Цепи питания VRM материнки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35–50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65–85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105–115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54787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Программные комплексы HWiNFO64 и AIDA64: считывание датчиков температур, мощности и оборотов вентиляторов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9663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Стресс-тестирование в Prime95 (Small FFTs), OCCT и FurMark для верификации теплового баланса до и после 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91455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Настройка профилей вращения (Fan Curve): тихий режим до 50 °C, линейный рост до 75 °C, 100% при 85 °C</a:t>
            </a:r>
          </a:p>
        </p:txBody>
      </p:sp>
      <p:pic>
        <p:nvPicPr>
          <p:cNvPr id="8" name="Picture 7" descr="hwinf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221151"/>
            <a:ext cx="4206240" cy="3055777"/>
          </a:xfrm>
          <a:prstGeom prst="rect">
            <a:avLst/>
          </a:prstGeom>
        </p:spPr>
      </p:pic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Class="entr" fill="hold" nodeType="after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"/>
                            </p:stCondLst>
                            <p:childTnLst>
                              <p:par>
                                <p:cTn id="23" presetClass="entr" fill="hold" nodeType="afterEffec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Пошаговый регламент технического обслуживания (8 этапов)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1  Входная диагностика: стресс-тест в ОС, фиксация температур T_max, оборотов RPM и шума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2  Обесточивание: отключение кабеля 220 В, разряд емкостей БП кнопкой Power, антистатический браслет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3  Разборка и аудит: визуальный осмотр радиаторов, лопастей, шлангов СЖО, проверка люфта подшипников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4  Очистка: продувка радиаторов сжатым воздухом, промывка пылевых сеток шасси нейтральным мыльным раствором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3192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5  Замена термоинтерфейсов: удаление засохшей пасты изопропанолом 99,6%, нанесение свежей пасты (MX-4 / Kryonaut)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55371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6  Обслуживание приводов: очистка вентиляторов, проверка помпы СЖО, промывка контура при необходимости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175504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7  Монтаж и сборка: равномерная перекрестная затяжка винтов кулера, исключающая перекос кристалла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797296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8  Выходной контроль: 30-минутный стресс-тест с логированием температур и оформлением паспорта устройства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3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3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38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Практический эффект обслуживания на типовом ПК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90472"/>
          <a:ext cx="6583677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/>
                <a:gridCol w="1492300"/>
                <a:gridCol w="1492300"/>
                <a:gridCol w="1492300"/>
              </a:tblGrid>
              <a:tr h="34747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Параметр системы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До регламента ТО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После регламента ТО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Разница / Выигрыш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Температура CPU под нагрузкой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91 °C (троттлинг)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72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-19 °C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Температура GPU под нагрузкой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84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71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-13 °C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Акустический шум (на 1 м)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41 дБА (сильный гул)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33 дБА (комфортный фон)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-8 дБА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Тактовая частота всех ядер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3,8 ГГц (сброс частот)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4,4 ГГц (номинальный Boost)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+600 МГц (+16 %)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Статус термотроттлинга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Активен (Throttling YES)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Отсутствует (Throttling NO)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100 % стабильность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91363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Анализ кейса: системный блок после 3 лет домашней эксплуатации без чистки радиаторов и смены пасты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535424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Регламент ТО полностью восстановил заводские тепловые параметры и тишину без покупки новых комплектующих</a:t>
            </a:r>
          </a:p>
        </p:txBody>
      </p:sp>
      <p:pic>
        <p:nvPicPr>
          <p:cNvPr id="7" name="Picture 6" descr="pas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2344221"/>
            <a:ext cx="4206240" cy="2809637"/>
          </a:xfrm>
          <a:prstGeom prst="rect">
            <a:avLst/>
          </a:prstGeom>
        </p:spPr>
      </p:pic>
    </p:spTree>
  </p:cSld>
  <p:clrMapOvr>
    <a:masterClrMapping/>
  </p:clrMapOvr>
  <p:transition spd="med">
    <p:wipe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Class="entr" fill="hold" nodeType="after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fill="hold" nodeType="click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"/>
                            </p:stCondLst>
                            <p:childTnLst>
                              <p:par>
                                <p:cTn id="19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550"/>
                                        <p:tgtEl>
                                          <p:spTgt spid="7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1" dur="5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Периодичность обслуживания и типичные ошибки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90472"/>
          <a:ext cx="6583677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6777"/>
                <a:gridCol w="1492300"/>
                <a:gridCol w="1492300"/>
                <a:gridCol w="1492300"/>
              </a:tblGrid>
              <a:tr h="34747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Условия эксплуатации ПК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Очистка от пыли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Замена термопасты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00E5FF"/>
                          </a:solidFill>
                          <a:latin typeface="Consolas"/>
                        </a:defRPr>
                      </a:pPr>
                      <a:r>
                        <a:t>Контроль СЖО</a:t>
                      </a:r>
                    </a:p>
                  </a:txBody>
                  <a:tcPr>
                    <a:solidFill>
                      <a:srgbClr val="0E2A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Офис, чистое жилое помещение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12 мес.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каждые 2–3 года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12 мес.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Дом с домашними животными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6 мес.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каждые 1,5–2 года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6 мес.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Мастерские, запыленные помещения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3 мес.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12 мес.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каждые 3–6 мес.</a:t>
                      </a:r>
                    </a:p>
                  </a:txBody>
                  <a:tcPr>
                    <a:solidFill>
                      <a:srgbClr val="0A162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Игровые клубы / Рендер-станции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4–6 мес.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12 мес.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D7E9F5"/>
                          </a:solidFill>
                          <a:latin typeface="Consolas"/>
                        </a:defRPr>
                      </a:pPr>
                      <a:r>
                        <a:t>раз в 6 мес.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3547872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Грубая ошибка: раскрутка вентиляторов струей сжатого воздуха без фиксации крыльчатки (ЭДС генератора сжигает плату)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4169663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Грубая ошибка: избыток или дефицит термопасты, неравномерная затяжка винтов с перекосом прижима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791455"/>
            <a:ext cx="66294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Грубая ошибка: смешивание медных и алюминиевых компонентов в одном контуре жидкостного охлаждения</a:t>
            </a:r>
          </a:p>
        </p:txBody>
      </p:sp>
      <p:pic>
        <p:nvPicPr>
          <p:cNvPr id="8" name="Picture 7" descr="fa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645920"/>
            <a:ext cx="4206240" cy="4206240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50"/>
                            </p:stCondLst>
                            <p:childTnLst>
                              <p:par>
                                <p:cTn id="8" presetClass="entr" fill="hold" nodeType="afterEffect" presetID="22" presetSubtype="8">
                                  <p:stCondLst>
                                    <p:cond delay="0"/>
                                  </p:stCondLst>
                                  <p:childTnLst>
                                    <p:animEffect transition="in" filter="wipe(right)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1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"/>
                            </p:stCondLst>
                            <p:childTnLst>
                              <p:par>
                                <p:cTn id="23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550"/>
                                        <p:tgtEl>
                                          <p:spTgt spid="8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25" dur="5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566928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EAFBFF"/>
                </a:solidFill>
                <a:latin typeface="Consolas"/>
              </a:rPr>
              <a:t>Охрана труда и техника безопасности при проведении ТО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Электробезопасность (приказ Минтруда РФ № 903н): обязательное физическое отключение от сети, разряд конденсаторов БП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66544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Категорический запрет: не вскрывать корпус блока питания лицам без соответствующей группы допуска по электробезопасности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88336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Антистатическая защита (ГОСТ IEC 61340): использование антистатического браслета и коврика, снятие заряда перед касанием плат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310128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Химическая безопасность: работа с изопропиловым спиртом в проветриваемом помещении в перчатках, защита глаз при продувке сжатым газом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931920"/>
            <a:ext cx="1078992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E5FF"/>
                </a:solidFill>
                <a:latin typeface="Consolas"/>
              </a:rPr>
              <a:t>&gt; </a:t>
            </a:r>
            <a:r>
              <a:rPr sz="1350" b="0">
                <a:solidFill>
                  <a:srgbClr val="D9ECF8"/>
                </a:solidFill>
                <a:latin typeface="Segoe UI"/>
              </a:rPr>
              <a:t>Пожарная безопасность (ППР РФ № 1479): оснащение рабочего места углекислотным огнетушителем (ОУ), запрет тушения электроники водой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6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0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4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2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nodeType="clickEffect" presetID="2" presetSubtype="1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left)">
                                      <p:cBhvr>
                                        <p:cTn id="2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91640"/>
            <a:ext cx="10360152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3800" b="1">
                <a:solidFill>
                  <a:srgbClr val="EAFBFF"/>
                </a:solidFill>
                <a:latin typeface="Consolas"/>
              </a:rPr>
              <a:t>ЗАКЛЮЧЕНИЕ И 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6015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00E5FF"/>
                </a:solidFill>
                <a:latin typeface="Consolas"/>
              </a:rPr>
              <a:t>Результаты теоретического анализа и регламента обслуживания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389120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Проведен сравнительный анализ ключевых технологий: воздушных, жидкостных (AIO/кастом), термоэлектрических и иммерсионных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974336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Доказано: надежность и тепловой режим системы определяются R_th самого слабого звена цепи — термоинтерфейса и чистоты ламелей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559551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Разработан и апробирован комплексный 8-этапный регламент ТО с объективным инструментальным контролем параметров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6144767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Практический эффект регламента подтвержден: снижение температуры CPU на 19 °C, устранение троттлинга и снижение шума на 8 дБА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6729983"/>
            <a:ext cx="9628632" cy="5852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D4E6"/>
                </a:solidFill>
                <a:latin typeface="Segoe UI"/>
              </a:rPr>
              <a:t>Спасибо за внимание! Готов ответить на ваши вопросы.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>
          <p:childTnLst>
            <p:seq concurrent="1" nextAc="seek">
              <p:cTn id="2" dur="indefinite" nodeType="tmRoot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afterEffect" presetID="23" presetSubtype="0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550"/>
                                        <p:tgtEl>
                                          <p:spTgt spid="3"/>
                                        </p:tgtEl>
                                      </p:cBhvr>
                                    </p:animScale>
                                    <p:animEffect transition="in" filter="fade">
                                      <p:cBhvr>
                                        <p:cTn id="7" dur="5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Class="entr" fill="hold" nodeType="afterEffec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650"/>
                            </p:stCondLst>
                            <p:childTnLst>
                              <p:par>
                                <p:cTn id="15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16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18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150"/>
                            </p:stCondLst>
                            <p:childTnLst>
                              <p:par>
                                <p:cTn id="21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22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400"/>
                            </p:stCondLst>
                            <p:childTnLst>
                              <p:par>
                                <p:cTn id="24" presetClass="entr" fill="hold" nodeType="afterEffect" presetID="2" presetSubtype="4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ly(down)">
                                      <p:cBhvr>
                                        <p:cTn id="2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delay="0" evt="onPrev"/>
              </p:prevCondLst>
              <p:nextCondLst>
                <p:cond delay="0" evt="onNext"/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технологий охлаждения компьютерных систем</dc:title>
  <dc:subject/>
  <dc:creator>Теддер Даниил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