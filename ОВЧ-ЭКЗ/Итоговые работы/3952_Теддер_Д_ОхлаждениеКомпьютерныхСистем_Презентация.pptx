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828800"/>
            <a:ext cx="10360152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000" b="1">
                <a:solidFill>
                  <a:srgbClr val="EAFBFF"/>
                </a:solidFill>
                <a:latin typeface="Consolas"/>
              </a:rPr>
              <a:t>АНАЛИЗ ТЕХНОЛОГИЙ ОХЛАЖДЕНИЯ
КОМПЬЮТЕРНЫХ СИСТЕМ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1188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00E5FF"/>
                </a:solidFill>
                <a:latin typeface="Consolas"/>
              </a:rPr>
              <a:t>и основы их обслуживания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434840"/>
            <a:ext cx="96286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B9D4E6"/>
                </a:solidFill>
                <a:latin typeface="Segoe UI"/>
              </a:rPr>
              <a:t>Реферат по дисциплине «Техническое обслуживание и ремонт аппаратной части компьютерных систем и комплексов»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5038344"/>
            <a:ext cx="96286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B9D4E6"/>
                </a:solidFill>
                <a:latin typeface="Segoe UI"/>
              </a:rPr>
              <a:t>Выполнил: Теддер Даниил, группа 3952   Руководитель: Овчинников К.Е.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Почему охлаждение решает всё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Тепловой пакет флагманских ЦП и ГП достиг 125–350 Вт и продолжает расти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До 30 % отказов и нестабильности ПК связаны с деградацией охлаждения: пыль, высохшая термопаста, износ вентиляторов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06624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Перегрев означает троттлинг, сбои, сокращение ресурса полупроводников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735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Обслуживание дешевле ремонта: 1–2 часа работ против замены компонентов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84048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Цель реферата: проанализировать технологии охлаждения и сформировать регламент обслуживания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Физика процесса: цепь тепловых сопротивлений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Три механизма переноса: теплопроводность, конвекция, излучение; лимитирует конвекция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39696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Перепад температуры = тепловой поток × тепловое сопротивление участка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06624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Пример: 150 Вт при сумме сопротивлений 0,38 К/Вт дают перегрев 57 °C над воздухом корпуса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64991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Высохшая термопаста добавляет 0,10 К/Вт и уводит кристалл в троттлинг без замены кулера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23359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Вывод: слабое звено цепи обесценивает всю конструкцию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Воздушное охлаждение: рабочая лошадка отрасли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Тепловые трубки: фазовый перенос тепла, эффективная проводимость в десятки раз выше меди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39696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Башенные кулеры: до 250 Вт, две секции пластин, 6–8 трубок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06624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Серверы: коридоры холодного и горячего воздуха, горячее резервирование вентиляторов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64991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Плюсы: цена, надёжность, простота обслуживания   Минусы: габариты, шум, предел мощности</a:t>
            </a:r>
          </a:p>
        </p:txBody>
      </p:sp>
      <p:pic>
        <p:nvPicPr>
          <p:cNvPr id="8" name="Picture 7" descr="noctu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990023"/>
            <a:ext cx="4114800" cy="360947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Жидкостное охлаждение: моноблоки и контуры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Моноблочная СЖО: герметичный контур, 250–350 Вт, 5+ лет без вмешательства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Пользовательский контур: водоблоки ЦП и ГП, 600 Вт и более, насос и резервуар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15184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Жидкость переносит тепло циркуляцией, а не теплопроводностью: вода 0,6 Вт/м·К против 401 у меди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73552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Плата за эффективность: цена, сложность, контроль герметичности и состояния жидкости</a:t>
            </a:r>
          </a:p>
        </p:txBody>
      </p:sp>
      <p:pic>
        <p:nvPicPr>
          <p:cNvPr id="8" name="Picture 7" descr="ai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737360"/>
            <a:ext cx="4114800" cy="4114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Термоэлектричество, фаза, иммерсия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Модуль Пельтье: температура ниже окружающей среды, но низкий КПД и риск конденсата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39696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Компрессорные схемы: экстремальный разгон, защита от конденсата, нишевое применение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98063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Иммерсионные ванны: платы в диэлектрике, PUE около 1,09 против 1,4–1,6 у воздушных залов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456431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Пассивное охлаждение: 30–60 Вт без единого вентилятора, абсолютная тишина</a:t>
            </a:r>
          </a:p>
        </p:txBody>
      </p:sp>
      <p:pic>
        <p:nvPicPr>
          <p:cNvPr id="8" name="Picture 7" descr="immer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637472"/>
            <a:ext cx="4114800" cy="2314575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Сравнение технологий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572768"/>
          <a:ext cx="658367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451"/>
                <a:gridCol w="1448409"/>
                <a:gridCol w="1448409"/>
                <a:gridCol w="1448409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Технология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Мощность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Шум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Обслуживание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Воздушное башенное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до 250 Вт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средний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низкая сложность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Моноблочная СЖО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250–350 Вт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низкий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низкая сложность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Пользовательский контур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600 Вт и более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низкий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высокая сложность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Термоэлектрическое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до 150 Вт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высокий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средняя сложность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Иммерсионное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без предела узла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минимальный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средняя сложность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Пассивное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30–60 Вт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нет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минимальная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489704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Универсального решения нет: выбор диктуют мощность, бюджет, шум и надёжность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Почему охлаждение деградирует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Пыль: войлок на фильтрах и радиаторе режет приток и теплоотдачу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Термопаста: за 2–4 года сохнет и трескается, сопротивление контакта растёт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15184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Подшипники и насосы: износ смазки, шум, падение производительности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182112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Химия контуров: окислы и биологические отложения засоряют микроканалы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749040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Признаки: рост температур и оборотов, новый шум, видимые отложения</a:t>
            </a:r>
          </a:p>
        </p:txBody>
      </p:sp>
      <p:pic>
        <p:nvPicPr>
          <p:cNvPr id="9" name="Picture 8" descr="dust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637472"/>
            <a:ext cx="4114800" cy="2314575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Нормы температур и средства контроля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572768"/>
          <a:ext cx="658367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451"/>
                <a:gridCol w="1448409"/>
                <a:gridCol w="1448409"/>
                <a:gridCol w="1448409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Компонент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Покой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Нагрузка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Порог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ЦП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30–50 °C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70–90 °C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95–100 °C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ГП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30–45 °C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65–85 °C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85–95 °C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SSD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30–45 °C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50–70 °C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80 °C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3337560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HWiNFO64 и AIDA64: журналирование датчиков до и после работ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904487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Prime95, OCCT, FurMark: идентичная нагрузка для честного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471416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Кривые вентиляторов в прошивке: 30 % до 50 °C, максимум к 85 °C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Регламент обслуживания: восемь этапов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1  Фиксация исходных температур и стресс-тест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2  Обесточивание и разборка, антистатика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15184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3  Диагностика узлов и подшипников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18211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4  Очистка от пыли, промывка фильтров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74904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5  Замена термоинтерфейсов и прокладок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31596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6  Обслуживание вентиляторов и контуров СЖО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82896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7  Сборка и настройка кривых вращения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449824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8  Контрольный прогон и карточка устройства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Эффект обслуживания: пример на типовом ПК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572768"/>
          <a:ext cx="65836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451"/>
                <a:gridCol w="2172614"/>
                <a:gridCol w="2172614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До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После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ЦП под нагрузкой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91 °C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72 °C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ГП под нагрузкой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84 °C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71 °C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Шум под нагрузкой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41 дБА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33 дБА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Троттлинг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фиксировался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устранён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3721608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Три года без обслуживания в доме с животными: процессор у порога и троттлинг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288536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Стандартный регламент вернул 19 °C запаса и тишину без замены кулера</a:t>
            </a:r>
          </a:p>
        </p:txBody>
      </p:sp>
      <p:pic>
        <p:nvPicPr>
          <p:cNvPr id="7" name="Picture 6" descr="pas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420481"/>
            <a:ext cx="4114800" cy="2748558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Периодичность и типовые ошибки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572768"/>
          <a:ext cx="658367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451"/>
                <a:gridCol w="2172614"/>
                <a:gridCol w="2172614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Условия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Чистка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Термопаста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Офис, дом без животных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12 месяцев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2–3 года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Животные, ремонт рядом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6 месяцев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1–2 года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Игры и рендеринг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4–6 месяцев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8–12 месяцев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3337560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Ошибка: продувка вентилятора без фиксации крыльчатки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904487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Ошибка: избыток пасты и затяжка крепежа по одному винту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471416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Ошибка: сборка без контрольного прогона с журналированием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Безопасность работ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Электробезопасность: обесточивание, разряд ёмкостей, блок питания не вскрывать, приказ Минтруда 903н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39696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Антистатика: браслет и коврик, выравнивание потенциалов перед касанием плат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06624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Химия и воздух: очки, перчатки, проветривание, сжатый воздух короткими импульсами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64991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СЖО: слив и заправка только на обесточенной системе, сутки контроля герметичности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23359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Пожарная безопасность: углекислотный огнетушитель, вода под напряжением запрещена, телефон 101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325880"/>
            <a:ext cx="10360152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EAFBFF"/>
                </a:solidFill>
                <a:latin typeface="Consolas"/>
              </a:rP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06040"/>
            <a:ext cx="9628632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B9D4E6"/>
                </a:solidFill>
                <a:latin typeface="Segoe UI"/>
              </a:rPr>
              <a:t>Проанализированы семь технологий охлаждения от воздушных до иммерсионных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264408"/>
            <a:ext cx="9628632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B9D4E6"/>
                </a:solidFill>
                <a:latin typeface="Segoe UI"/>
              </a:rPr>
              <a:t>Эффективность системы равна её слабому звену, поэтому обслуживание важнее цены кулера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922776"/>
            <a:ext cx="9628632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B9D4E6"/>
                </a:solidFill>
                <a:latin typeface="Segoe UI"/>
              </a:rPr>
              <a:t>Сформирован восьмиэтапный регламент с контролируемыми критериями результата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581144"/>
            <a:ext cx="9628632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B9D4E6"/>
                </a:solidFill>
                <a:latin typeface="Segoe UI"/>
              </a:rPr>
              <a:t>Регламент подтверждён примером: минус 19 °C и устранение троттлинга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5239512"/>
            <a:ext cx="9628632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B9D4E6"/>
                </a:solidFill>
                <a:latin typeface="Segoe UI"/>
              </a:rPr>
              <a:t>Спасибо за внимание!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 технологий охлаждения компьютерных систем</dc:title>
  <dc:subject/>
  <dc:creator>Теддер Даниил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